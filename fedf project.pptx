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86" r:id="rId2"/>
    <p:sldId id="260" r:id="rId3"/>
    <p:sldId id="278" r:id="rId4"/>
    <p:sldId id="257" r:id="rId5"/>
    <p:sldId id="321" r:id="rId6"/>
    <p:sldId id="326" r:id="rId7"/>
    <p:sldId id="322" r:id="rId8"/>
    <p:sldId id="323" r:id="rId9"/>
    <p:sldId id="328" r:id="rId10"/>
    <p:sldId id="324" r:id="rId11"/>
    <p:sldId id="277" r:id="rId12"/>
    <p:sldId id="329" r:id="rId13"/>
    <p:sldId id="320" r:id="rId14"/>
    <p:sldId id="327" r:id="rId1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E237EC-F17E-4973-BC27-81601786446E}" v="2" dt="2025-09-11T16:10:28.6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10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9/12/2025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Project Title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algn="just"/>
            <a:r>
              <a:rPr lang="en-IN" b="1" dirty="0"/>
              <a:t>                                                                  A.SINDHUJA                                 2420030094  </a:t>
            </a:r>
          </a:p>
          <a:p>
            <a:pPr algn="just"/>
            <a:r>
              <a:rPr lang="en-IN" b="1" dirty="0"/>
              <a:t>                                                                  B.SATHWIK                                   2420030048</a:t>
            </a:r>
            <a:endParaRPr lang="en-IN" dirty="0"/>
          </a:p>
          <a:p>
            <a:pPr algn="just"/>
            <a:r>
              <a:rPr lang="en-IN" b="1" dirty="0"/>
              <a:t>                                                                  K.VISHNU VARDHAN REDDY     2420030110</a:t>
            </a:r>
            <a:endParaRPr lang="en-US" sz="2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21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P. Srilatha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70000" lnSpcReduction="20000"/>
          </a:bodyPr>
          <a:lstStyle/>
          <a:p>
            <a:pPr algn="just"/>
            <a:r>
              <a:rPr lang="en-IN" b="1" i="1" dirty="0"/>
              <a:t>A customer feedback system for restaurants is a structured digital solution designed to collect, </a:t>
            </a:r>
            <a:r>
              <a:rPr lang="en-IN" b="1" i="1" dirty="0" err="1"/>
              <a:t>analyze</a:t>
            </a:r>
            <a:r>
              <a:rPr lang="en-IN" b="1" i="1" dirty="0"/>
              <a:t>, and act upon diners’ opinions to enhance service quality and customer  satisfaction. The system provides multiple feedback channels such as QR codes, kiosks, mobile applications, or follow-up surveys to capture ratings and comments on food, service, ambience, and overall experience. By integrating simple rating tools with open-ended responses, the system ensures both quantitative and qualitative insights. Real-time monitoring and analytics dashboards help restaurant managers identify trends, address negative feedback promptly, and track improvements over time. Integration with POS and CRM systems further enables personalized customer engagement and loyalty-building. This approach not only improves operational efficiency but also fosters stronger customer relationships, positioning the restaurant for sustainable growth.</a:t>
            </a:r>
            <a:endParaRPr lang="en-IN" i="1" dirty="0"/>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55000" lnSpcReduction="20000"/>
          </a:bodyPr>
          <a:lstStyle/>
          <a:p>
            <a:pPr lvl="0" algn="just"/>
            <a:r>
              <a:rPr lang="en-IN" b="1" i="1" dirty="0"/>
              <a:t>Customer satisfaction is a critical factor in the success and sustainability of restaurants in today’s competitive food industry. With increasing customer expectations and the growing influence of online reviews, restaurants need efficient systems to capture and </a:t>
            </a:r>
            <a:r>
              <a:rPr lang="en-IN" b="1" i="1" dirty="0" err="1"/>
              <a:t>analyze</a:t>
            </a:r>
            <a:r>
              <a:rPr lang="en-IN" b="1" i="1" dirty="0"/>
              <a:t> feedback. Traditional methods such as comment cards or verbal suggestions are often limited, as they do not provide structured data for decision-making. A customer feedback system offers a digital and systematic approach to gathering opinions directly from diners through channels such as QR codes, kiosks, mobile applications, and follow-up surveys.</a:t>
            </a:r>
            <a:endParaRPr lang="en-IN" i="1" dirty="0"/>
          </a:p>
          <a:p>
            <a:pPr lvl="0" algn="just"/>
            <a:r>
              <a:rPr lang="en-IN" b="1" i="1" dirty="0"/>
              <a:t>Such a system enables customers to share their experiences regarding food quality, service efficiency, ambience, and overall value, while allowing restaurant managers to access real-time insights. By incorporating features like rating scales, open-text feedback, and automated analytics dashboards, managers can detect patterns, respond quickly to negative reviews, and implement improvements. Moreover, integrating the feedback system with existing restaurant management tools, such as POS and CRM software, supports loyalty programs and targeted marketing. </a:t>
            </a:r>
            <a:endParaRPr lang="en-IN" i="1" dirty="0"/>
          </a:p>
          <a:p>
            <a:pPr lvl="0" algn="just"/>
            <a:r>
              <a:rPr lang="en-IN" b="1" i="1" dirty="0"/>
              <a:t>Ultimately, a well-designed customer feedback system not only improves the dining experience but also strengthens the relationship between the restaurant and its patrons, thereby driving repeat business and long-term growth.</a:t>
            </a:r>
            <a:endParaRPr lang="en-IN" i="1" dirty="0"/>
          </a:p>
          <a:p>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
        <p:nvSpPr>
          <p:cNvPr id="4" name="Rectangle 1">
            <a:extLst>
              <a:ext uri="{FF2B5EF4-FFF2-40B4-BE49-F238E27FC236}">
                <a16:creationId xmlns:a16="http://schemas.microsoft.com/office/drawing/2014/main" id="{5033DCB7-BF53-FAE6-9A72-06004868EA98}"/>
              </a:ext>
            </a:extLst>
          </p:cNvPr>
          <p:cNvSpPr>
            <a:spLocks noGrp="1" noChangeArrowheads="1"/>
          </p:cNvSpPr>
          <p:nvPr>
            <p:ph idx="1"/>
          </p:nvPr>
        </p:nvSpPr>
        <p:spPr bwMode="auto">
          <a:xfrm>
            <a:off x="533401" y="1325999"/>
            <a:ext cx="7620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lack of systematic feedback collection</a:t>
            </a:r>
            <a:r>
              <a:rPr kumimoji="0" lang="en-US" altLang="en-US" sz="1800" b="0" i="0" u="none" strike="noStrike" cap="none" normalizeH="0" baseline="0" dirty="0">
                <a:ln>
                  <a:noFill/>
                </a:ln>
                <a:solidFill>
                  <a:schemeClr val="tx1"/>
                </a:solidFill>
                <a:effectLst/>
                <a:latin typeface="Arial" panose="020B0604020202020204" pitchFamily="34" charset="0"/>
              </a:rPr>
              <a:t>: Many restaurants collect feedback verbally, but they do not have a structured way to record, analyze, and utilize customer opinions.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Low response rate to feedback forms</a:t>
            </a:r>
            <a:r>
              <a:rPr kumimoji="0" lang="en-US" altLang="en-US" sz="1800" b="0" i="0" u="none" strike="noStrike" cap="none" normalizeH="0" baseline="0" dirty="0">
                <a:ln>
                  <a:noFill/>
                </a:ln>
                <a:solidFill>
                  <a:schemeClr val="tx1"/>
                </a:solidFill>
                <a:effectLst/>
                <a:latin typeface="Arial" panose="020B0604020202020204" pitchFamily="34" charset="0"/>
              </a:rPr>
              <a:t>: Customers often ignore feedback forms due to length, lack of incentives, or inconvenient timing.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Difficulty in analyzing feedback</a:t>
            </a:r>
            <a:r>
              <a:rPr kumimoji="0" lang="en-US" altLang="en-US" sz="1800" b="0" i="0" u="none" strike="noStrike" cap="none" normalizeH="0" baseline="0" dirty="0">
                <a:ln>
                  <a:noFill/>
                </a:ln>
                <a:solidFill>
                  <a:schemeClr val="tx1"/>
                </a:solidFill>
                <a:effectLst/>
                <a:latin typeface="Arial" panose="020B0604020202020204" pitchFamily="34" charset="0"/>
              </a:rPr>
              <a:t>: Restaurants receive both structured (ratings) and unstructured (comments) feedback, making it hard to extract meaningful insights.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Delayed action on complaints</a:t>
            </a:r>
            <a:r>
              <a:rPr kumimoji="0" lang="en-US" altLang="en-US" sz="1800" b="0" i="0" u="none" strike="noStrike" cap="none" normalizeH="0" baseline="0" dirty="0">
                <a:ln>
                  <a:noFill/>
                </a:ln>
                <a:solidFill>
                  <a:schemeClr val="tx1"/>
                </a:solidFill>
                <a:effectLst/>
                <a:latin typeface="Arial" panose="020B0604020202020204" pitchFamily="34" charset="0"/>
              </a:rPr>
              <a:t>: Feedback about poor service, food quality, or hygiene is not addressed quickly, leading to customer dissatisfaction.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personalized customer engagement</a:t>
            </a:r>
            <a:r>
              <a:rPr kumimoji="0" lang="en-US" altLang="en-US" sz="1800" b="0" i="0" u="none" strike="noStrike" cap="none" normalizeH="0" baseline="0" dirty="0">
                <a:ln>
                  <a:noFill/>
                </a:ln>
                <a:solidFill>
                  <a:schemeClr val="tx1"/>
                </a:solidFill>
                <a:effectLst/>
                <a:latin typeface="Arial" panose="020B0604020202020204" pitchFamily="34" charset="0"/>
              </a:rPr>
              <a:t>: Restaurants fail to use feedback data to offer personalized discounts, menu suggestions, or loyalty programs.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Negative online reviews</a:t>
            </a:r>
            <a:r>
              <a:rPr kumimoji="0" lang="en-US" altLang="en-US" sz="1800" b="0" i="0" u="none" strike="noStrike" cap="none" normalizeH="0" baseline="0" dirty="0">
                <a:ln>
                  <a:noFill/>
                </a:ln>
                <a:solidFill>
                  <a:schemeClr val="tx1"/>
                </a:solidFill>
                <a:effectLst/>
                <a:latin typeface="Arial" panose="020B0604020202020204" pitchFamily="34" charset="0"/>
              </a:rPr>
              <a:t>: Many customers prefer posting reviews on public platforms (Google, Zomato, Yelp) instead of giving feedback directly, which harms reputation.</a:t>
            </a:r>
          </a:p>
        </p:txBody>
      </p:sp>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6" name="Content Placeholder 5">
            <a:extLst>
              <a:ext uri="{FF2B5EF4-FFF2-40B4-BE49-F238E27FC236}">
                <a16:creationId xmlns:a16="http://schemas.microsoft.com/office/drawing/2014/main" id="{64C2F055-7E28-1CC1-8542-23E21DAB6F5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57796" y="1600200"/>
            <a:ext cx="4228408" cy="4525963"/>
          </a:xfr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graphicFrame>
        <p:nvGraphicFramePr>
          <p:cNvPr id="3" name="Content Placeholder 2">
            <a:extLst>
              <a:ext uri="{FF2B5EF4-FFF2-40B4-BE49-F238E27FC236}">
                <a16:creationId xmlns:a16="http://schemas.microsoft.com/office/drawing/2014/main" id="{B477E54E-98B4-A6A5-DE5B-3531AC7CCC9C}"/>
              </a:ext>
            </a:extLst>
          </p:cNvPr>
          <p:cNvGraphicFramePr>
            <a:graphicFrameLocks noGrp="1"/>
          </p:cNvGraphicFramePr>
          <p:nvPr>
            <p:ph idx="1"/>
            <p:extLst>
              <p:ext uri="{D42A27DB-BD31-4B8C-83A1-F6EECF244321}">
                <p14:modId xmlns:p14="http://schemas.microsoft.com/office/powerpoint/2010/main" val="4257712573"/>
              </p:ext>
            </p:extLst>
          </p:nvPr>
        </p:nvGraphicFramePr>
        <p:xfrm>
          <a:off x="1371600" y="1293022"/>
          <a:ext cx="6934200" cy="4833378"/>
        </p:xfrm>
        <a:graphic>
          <a:graphicData uri="http://schemas.openxmlformats.org/drawingml/2006/table">
            <a:tbl>
              <a:tblPr/>
              <a:tblGrid>
                <a:gridCol w="3469036">
                  <a:extLst>
                    <a:ext uri="{9D8B030D-6E8A-4147-A177-3AD203B41FA5}">
                      <a16:colId xmlns:a16="http://schemas.microsoft.com/office/drawing/2014/main" val="3611342220"/>
                    </a:ext>
                  </a:extLst>
                </a:gridCol>
                <a:gridCol w="3465164">
                  <a:extLst>
                    <a:ext uri="{9D8B030D-6E8A-4147-A177-3AD203B41FA5}">
                      <a16:colId xmlns:a16="http://schemas.microsoft.com/office/drawing/2014/main" val="3001293165"/>
                    </a:ext>
                  </a:extLst>
                </a:gridCol>
              </a:tblGrid>
              <a:tr h="284163">
                <a:tc>
                  <a:txBody>
                    <a:bodyPr/>
                    <a:lstStyle/>
                    <a:p>
                      <a:pPr>
                        <a:buNone/>
                      </a:pPr>
                      <a:r>
                        <a:rPr lang="en-IN" sz="1400" b="1" i="1" u="sng" dirty="0"/>
                        <a:t>OBJECTIVE</a:t>
                      </a:r>
                    </a:p>
                  </a:txBody>
                  <a:tcPr marL="71041" marR="71041" marT="35520" marB="35520" anchor="ctr">
                    <a:lnL>
                      <a:noFill/>
                    </a:lnL>
                    <a:lnR>
                      <a:noFill/>
                    </a:lnR>
                    <a:lnT>
                      <a:noFill/>
                    </a:lnT>
                    <a:lnB>
                      <a:noFill/>
                    </a:lnB>
                    <a:noFill/>
                  </a:tcPr>
                </a:tc>
                <a:tc>
                  <a:txBody>
                    <a:bodyPr/>
                    <a:lstStyle/>
                    <a:p>
                      <a:pPr>
                        <a:buNone/>
                      </a:pPr>
                      <a:r>
                        <a:rPr lang="en-IN" sz="1400" b="1" dirty="0"/>
                        <a:t>JUSTIFICATION</a:t>
                      </a:r>
                      <a:endParaRPr lang="en-IN" sz="1400" dirty="0"/>
                    </a:p>
                  </a:txBody>
                  <a:tcPr marL="71041" marR="71041" marT="35520" marB="35520" anchor="ctr">
                    <a:lnL>
                      <a:noFill/>
                    </a:lnL>
                    <a:lnR>
                      <a:noFill/>
                    </a:lnR>
                    <a:lnT>
                      <a:noFill/>
                    </a:lnT>
                    <a:lnB>
                      <a:noFill/>
                    </a:lnB>
                    <a:noFill/>
                  </a:tcPr>
                </a:tc>
                <a:extLst>
                  <a:ext uri="{0D108BD9-81ED-4DB2-BD59-A6C34878D82A}">
                    <a16:rowId xmlns:a16="http://schemas.microsoft.com/office/drawing/2014/main" val="3060534510"/>
                  </a:ext>
                </a:extLst>
              </a:tr>
              <a:tr h="710406">
                <a:tc>
                  <a:txBody>
                    <a:bodyPr/>
                    <a:lstStyle/>
                    <a:p>
                      <a:pPr algn="just">
                        <a:buNone/>
                      </a:pPr>
                      <a:r>
                        <a:rPr lang="en-US" sz="1400" b="1" i="1" u="sng" dirty="0"/>
                        <a:t>1. To develop a digital platform for collecting customer feedback</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Traditional paper forms are inconvenient; a digital system increases participation and accuracy.</a:t>
                      </a:r>
                    </a:p>
                  </a:txBody>
                  <a:tcPr marL="71041" marR="71041" marT="35520" marB="35520" anchor="ctr">
                    <a:lnL>
                      <a:noFill/>
                    </a:lnL>
                    <a:lnR>
                      <a:noFill/>
                    </a:lnR>
                    <a:lnT>
                      <a:noFill/>
                    </a:lnT>
                    <a:lnB>
                      <a:noFill/>
                    </a:lnB>
                    <a:noFill/>
                  </a:tcPr>
                </a:tc>
                <a:extLst>
                  <a:ext uri="{0D108BD9-81ED-4DB2-BD59-A6C34878D82A}">
                    <a16:rowId xmlns:a16="http://schemas.microsoft.com/office/drawing/2014/main" val="2669535328"/>
                  </a:ext>
                </a:extLst>
              </a:tr>
              <a:tr h="710406">
                <a:tc>
                  <a:txBody>
                    <a:bodyPr/>
                    <a:lstStyle/>
                    <a:p>
                      <a:pPr algn="just">
                        <a:buNone/>
                      </a:pPr>
                      <a:r>
                        <a:rPr lang="en-US" sz="1400" b="1" i="1" u="sng" dirty="0"/>
                        <a:t>2. To enable real-time feedback submission and alerts</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Allows managers to respond instantly to negative feedback and resolve issues on the spot.</a:t>
                      </a:r>
                    </a:p>
                  </a:txBody>
                  <a:tcPr marL="71041" marR="71041" marT="35520" marB="35520" anchor="ctr">
                    <a:lnL>
                      <a:noFill/>
                    </a:lnL>
                    <a:lnR>
                      <a:noFill/>
                    </a:lnR>
                    <a:lnT>
                      <a:noFill/>
                    </a:lnT>
                    <a:lnB>
                      <a:noFill/>
                    </a:lnB>
                    <a:noFill/>
                  </a:tcPr>
                </a:tc>
                <a:extLst>
                  <a:ext uri="{0D108BD9-81ED-4DB2-BD59-A6C34878D82A}">
                    <a16:rowId xmlns:a16="http://schemas.microsoft.com/office/drawing/2014/main" val="3453082453"/>
                  </a:ext>
                </a:extLst>
              </a:tr>
              <a:tr h="497284">
                <a:tc>
                  <a:txBody>
                    <a:bodyPr/>
                    <a:lstStyle/>
                    <a:p>
                      <a:pPr algn="just">
                        <a:buNone/>
                      </a:pPr>
                      <a:r>
                        <a:rPr lang="en-US" sz="1400" b="1" i="1" u="sng" dirty="0"/>
                        <a:t>3. To provide a user-friendly and mobile-responsive interface</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Ensures that customers can easily access and complete the form on any device.</a:t>
                      </a:r>
                    </a:p>
                  </a:txBody>
                  <a:tcPr marL="71041" marR="71041" marT="35520" marB="35520" anchor="ctr">
                    <a:lnL>
                      <a:noFill/>
                    </a:lnL>
                    <a:lnR>
                      <a:noFill/>
                    </a:lnR>
                    <a:lnT>
                      <a:noFill/>
                    </a:lnT>
                    <a:lnB>
                      <a:noFill/>
                    </a:lnB>
                    <a:noFill/>
                  </a:tcPr>
                </a:tc>
                <a:extLst>
                  <a:ext uri="{0D108BD9-81ED-4DB2-BD59-A6C34878D82A}">
                    <a16:rowId xmlns:a16="http://schemas.microsoft.com/office/drawing/2014/main" val="712303153"/>
                  </a:ext>
                </a:extLst>
              </a:tr>
              <a:tr h="710406">
                <a:tc>
                  <a:txBody>
                    <a:bodyPr/>
                    <a:lstStyle/>
                    <a:p>
                      <a:pPr algn="just">
                        <a:buNone/>
                      </a:pPr>
                      <a:r>
                        <a:rPr lang="en-US" sz="1400" b="1" i="1" u="sng" dirty="0"/>
                        <a:t>4. To generate analytical reports and dashboards</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Helps management track trends, staff performance, and service quality over time.</a:t>
                      </a:r>
                    </a:p>
                  </a:txBody>
                  <a:tcPr marL="71041" marR="71041" marT="35520" marB="35520" anchor="ctr">
                    <a:lnL>
                      <a:noFill/>
                    </a:lnL>
                    <a:lnR>
                      <a:noFill/>
                    </a:lnR>
                    <a:lnT>
                      <a:noFill/>
                    </a:lnT>
                    <a:lnB>
                      <a:noFill/>
                    </a:lnB>
                    <a:noFill/>
                  </a:tcPr>
                </a:tc>
                <a:extLst>
                  <a:ext uri="{0D108BD9-81ED-4DB2-BD59-A6C34878D82A}">
                    <a16:rowId xmlns:a16="http://schemas.microsoft.com/office/drawing/2014/main" val="2604534329"/>
                  </a:ext>
                </a:extLst>
              </a:tr>
              <a:tr h="497284">
                <a:tc>
                  <a:txBody>
                    <a:bodyPr/>
                    <a:lstStyle/>
                    <a:p>
                      <a:pPr algn="just">
                        <a:buNone/>
                      </a:pPr>
                      <a:r>
                        <a:rPr lang="en-US" sz="1400" b="1" i="1" u="sng" dirty="0"/>
                        <a:t>5. To support customizable questions and feedback types</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Restaurants can tailor the form to specific menus, events, or services.</a:t>
                      </a:r>
                    </a:p>
                  </a:txBody>
                  <a:tcPr marL="71041" marR="71041" marT="35520" marB="35520" anchor="ctr">
                    <a:lnL>
                      <a:noFill/>
                    </a:lnL>
                    <a:lnR>
                      <a:noFill/>
                    </a:lnR>
                    <a:lnT>
                      <a:noFill/>
                    </a:lnT>
                    <a:lnB>
                      <a:noFill/>
                    </a:lnB>
                    <a:noFill/>
                  </a:tcPr>
                </a:tc>
                <a:extLst>
                  <a:ext uri="{0D108BD9-81ED-4DB2-BD59-A6C34878D82A}">
                    <a16:rowId xmlns:a16="http://schemas.microsoft.com/office/drawing/2014/main" val="677004697"/>
                  </a:ext>
                </a:extLst>
              </a:tr>
              <a:tr h="710406">
                <a:tc>
                  <a:txBody>
                    <a:bodyPr/>
                    <a:lstStyle/>
                    <a:p>
                      <a:pPr algn="just">
                        <a:buNone/>
                      </a:pPr>
                      <a:r>
                        <a:rPr lang="en-US" sz="1400" b="1" i="1" u="sng" dirty="0"/>
                        <a:t>6. To centralize feedback across multiple branches (if applicable)</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Multi-location restaurants can manage and compare performance in a single platform.</a:t>
                      </a:r>
                    </a:p>
                  </a:txBody>
                  <a:tcPr marL="71041" marR="71041" marT="35520" marB="35520" anchor="ctr">
                    <a:lnL>
                      <a:noFill/>
                    </a:lnL>
                    <a:lnR>
                      <a:noFill/>
                    </a:lnR>
                    <a:lnT>
                      <a:noFill/>
                    </a:lnT>
                    <a:lnB>
                      <a:noFill/>
                    </a:lnB>
                    <a:noFill/>
                  </a:tcPr>
                </a:tc>
                <a:extLst>
                  <a:ext uri="{0D108BD9-81ED-4DB2-BD59-A6C34878D82A}">
                    <a16:rowId xmlns:a16="http://schemas.microsoft.com/office/drawing/2014/main" val="1961391289"/>
                  </a:ext>
                </a:extLst>
              </a:tr>
              <a:tr h="710406">
                <a:tc>
                  <a:txBody>
                    <a:bodyPr/>
                    <a:lstStyle/>
                    <a:p>
                      <a:pPr algn="just">
                        <a:buNone/>
                      </a:pPr>
                      <a:r>
                        <a:rPr lang="en-US" sz="1400" b="1" i="1" u="sng" dirty="0"/>
                        <a:t>7. To store feedback securely and ensure data privacy</a:t>
                      </a:r>
                    </a:p>
                  </a:txBody>
                  <a:tcPr marL="71041" marR="71041" marT="35520" marB="35520" anchor="ctr">
                    <a:lnL>
                      <a:noFill/>
                    </a:lnL>
                    <a:lnR>
                      <a:noFill/>
                    </a:lnR>
                    <a:lnT>
                      <a:noFill/>
                    </a:lnT>
                    <a:lnB>
                      <a:noFill/>
                    </a:lnB>
                    <a:noFill/>
                  </a:tcPr>
                </a:tc>
                <a:tc>
                  <a:txBody>
                    <a:bodyPr/>
                    <a:lstStyle/>
                    <a:p>
                      <a:pPr algn="just">
                        <a:buNone/>
                      </a:pPr>
                      <a:r>
                        <a:rPr lang="en-US" sz="1400" b="1" i="1" u="sng" dirty="0">
                          <a:effectLst>
                            <a:outerShdw blurRad="38100" dist="38100" dir="2700000" algn="tl">
                              <a:srgbClr val="000000">
                                <a:alpha val="43137"/>
                              </a:srgbClr>
                            </a:outerShdw>
                          </a:effectLst>
                        </a:rPr>
                        <a:t>Protects customer information and ensures compliance with data protection laws.</a:t>
                      </a:r>
                    </a:p>
                  </a:txBody>
                  <a:tcPr marL="71041" marR="71041" marT="35520" marB="35520" anchor="ctr">
                    <a:lnL>
                      <a:noFill/>
                    </a:lnL>
                    <a:lnR>
                      <a:noFill/>
                    </a:lnR>
                    <a:lnT>
                      <a:noFill/>
                    </a:lnT>
                    <a:lnB>
                      <a:noFill/>
                    </a:lnB>
                    <a:noFill/>
                  </a:tcPr>
                </a:tc>
                <a:extLst>
                  <a:ext uri="{0D108BD9-81ED-4DB2-BD59-A6C34878D82A}">
                    <a16:rowId xmlns:a16="http://schemas.microsoft.com/office/drawing/2014/main" val="549302374"/>
                  </a:ext>
                </a:extLst>
              </a:tr>
            </a:tbl>
          </a:graphicData>
        </a:graphic>
      </p:graphicFrame>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609600" y="1401763"/>
            <a:ext cx="8229600" cy="4983161"/>
          </a:xfrm>
        </p:spPr>
        <p:txBody>
          <a:bodyPr>
            <a:normAutofit fontScale="25000" lnSpcReduction="20000"/>
          </a:bodyPr>
          <a:lstStyle/>
          <a:p>
            <a:r>
              <a:rPr lang="en-US" sz="5600" b="1" i="1" u="sng" dirty="0">
                <a:effectLst>
                  <a:outerShdw blurRad="38100" dist="38100" dir="2700000" algn="tl">
                    <a:srgbClr val="000000">
                      <a:alpha val="43137"/>
                    </a:srgbClr>
                  </a:outerShdw>
                </a:effectLst>
              </a:rPr>
              <a:t>1. Home Page</a:t>
            </a:r>
          </a:p>
          <a:p>
            <a:r>
              <a:rPr lang="en-US" sz="5600" b="1" i="1" u="sng" dirty="0">
                <a:effectLst>
                  <a:outerShdw blurRad="38100" dist="38100" dir="2700000" algn="tl">
                    <a:srgbClr val="000000">
                      <a:alpha val="43137"/>
                    </a:srgbClr>
                  </a:outerShdw>
                </a:effectLst>
              </a:rPr>
              <a:t>Purpose</a:t>
            </a:r>
            <a:r>
              <a:rPr lang="en-US" sz="5600" i="1" u="sng" dirty="0">
                <a:effectLst>
                  <a:outerShdw blurRad="38100" dist="38100" dir="2700000" algn="tl">
                    <a:srgbClr val="000000">
                      <a:alpha val="43137"/>
                    </a:srgbClr>
                  </a:outerShdw>
                </a:effectLst>
              </a:rPr>
              <a:t>: Landing page with general info about the restaurant and access to feedback form.</a:t>
            </a:r>
          </a:p>
          <a:p>
            <a:r>
              <a:rPr lang="en-US" sz="5600" b="1" i="1" u="sng" dirty="0">
                <a:effectLst>
                  <a:outerShdw blurRad="38100" dist="38100" dir="2700000" algn="tl">
                    <a:srgbClr val="000000">
                      <a:alpha val="43137"/>
                    </a:srgbClr>
                  </a:outerShdw>
                </a:effectLst>
              </a:rPr>
              <a:t>Features</a:t>
            </a:r>
            <a:r>
              <a:rPr lang="en-US" sz="5600" i="1" u="sng" dirty="0">
                <a:effectLst>
                  <a:outerShdw blurRad="38100" dist="38100" dir="2700000" algn="tl">
                    <a:srgbClr val="000000">
                      <a:alpha val="43137"/>
                    </a:srgbClr>
                  </a:outerShdw>
                </a:effectLst>
              </a:rPr>
              <a:t>:</a:t>
            </a:r>
          </a:p>
          <a:p>
            <a:pPr lvl="1"/>
            <a:r>
              <a:rPr lang="en-US" sz="5600" i="1" u="sng" dirty="0">
                <a:effectLst>
                  <a:outerShdw blurRad="38100" dist="38100" dir="2700000" algn="tl">
                    <a:srgbClr val="000000">
                      <a:alpha val="43137"/>
                    </a:srgbClr>
                  </a:outerShdw>
                </a:effectLst>
              </a:rPr>
              <a:t>Restaurant branding</a:t>
            </a:r>
          </a:p>
          <a:p>
            <a:pPr lvl="1"/>
            <a:r>
              <a:rPr lang="en-US" sz="5600" i="1" u="sng" dirty="0">
                <a:effectLst>
                  <a:outerShdw blurRad="38100" dist="38100" dir="2700000" algn="tl">
                    <a:srgbClr val="000000">
                      <a:alpha val="43137"/>
                    </a:srgbClr>
                  </a:outerShdw>
                </a:effectLst>
              </a:rPr>
              <a:t>Welcome message</a:t>
            </a:r>
          </a:p>
          <a:p>
            <a:pPr lvl="1"/>
            <a:r>
              <a:rPr lang="en-US" sz="5600" i="1" u="sng" dirty="0">
                <a:effectLst>
                  <a:outerShdw blurRad="38100" dist="38100" dir="2700000" algn="tl">
                    <a:srgbClr val="000000">
                      <a:alpha val="43137"/>
                    </a:srgbClr>
                  </a:outerShdw>
                </a:effectLst>
              </a:rPr>
              <a:t>Navigation bar (Home, Menu, Feedback, Contact)</a:t>
            </a:r>
          </a:p>
          <a:p>
            <a:pPr lvl="1"/>
            <a:r>
              <a:rPr lang="en-US" sz="5600" i="1" u="sng" dirty="0">
                <a:effectLst>
                  <a:outerShdw blurRad="38100" dist="38100" dir="2700000" algn="tl">
                    <a:srgbClr val="000000">
                      <a:alpha val="43137"/>
                    </a:srgbClr>
                  </a:outerShdw>
                </a:effectLst>
              </a:rPr>
              <a:t>“Leave Feedback” call-to-action button</a:t>
            </a:r>
          </a:p>
          <a:p>
            <a:br>
              <a:rPr lang="en-US" sz="5600" i="1" u="sng" dirty="0">
                <a:effectLst>
                  <a:outerShdw blurRad="38100" dist="38100" dir="2700000" algn="tl">
                    <a:srgbClr val="000000">
                      <a:alpha val="43137"/>
                    </a:srgbClr>
                  </a:outerShdw>
                </a:effectLst>
              </a:rPr>
            </a:br>
            <a:endParaRPr lang="en-US" sz="5600" i="1" u="sng" dirty="0">
              <a:effectLst>
                <a:outerShdw blurRad="38100" dist="38100" dir="2700000" algn="tl">
                  <a:srgbClr val="000000">
                    <a:alpha val="43137"/>
                  </a:srgbClr>
                </a:outerShdw>
              </a:effectLst>
            </a:endParaRPr>
          </a:p>
          <a:p>
            <a:r>
              <a:rPr lang="en-US" sz="5600" b="1" i="1" u="sng" dirty="0">
                <a:effectLst>
                  <a:outerShdw blurRad="38100" dist="38100" dir="2700000" algn="tl">
                    <a:srgbClr val="000000">
                      <a:alpha val="43137"/>
                    </a:srgbClr>
                  </a:outerShdw>
                </a:effectLst>
              </a:rPr>
              <a:t>🔹 2. Menu Page</a:t>
            </a:r>
          </a:p>
          <a:p>
            <a:r>
              <a:rPr lang="en-US" sz="5600" b="1" i="1" u="sng" dirty="0">
                <a:effectLst>
                  <a:outerShdw blurRad="38100" dist="38100" dir="2700000" algn="tl">
                    <a:srgbClr val="000000">
                      <a:alpha val="43137"/>
                    </a:srgbClr>
                  </a:outerShdw>
                </a:effectLst>
              </a:rPr>
              <a:t>Purpose</a:t>
            </a:r>
            <a:r>
              <a:rPr lang="en-US" sz="5600" i="1" u="sng" dirty="0">
                <a:effectLst>
                  <a:outerShdw blurRad="38100" dist="38100" dir="2700000" algn="tl">
                    <a:srgbClr val="000000">
                      <a:alpha val="43137"/>
                    </a:srgbClr>
                  </a:outerShdw>
                </a:effectLst>
              </a:rPr>
              <a:t>: Display restaurant menu (optional for feedback system but useful).</a:t>
            </a:r>
          </a:p>
          <a:p>
            <a:r>
              <a:rPr lang="en-US" sz="5600" b="1" i="1" u="sng" dirty="0">
                <a:effectLst>
                  <a:outerShdw blurRad="38100" dist="38100" dir="2700000" algn="tl">
                    <a:srgbClr val="000000">
                      <a:alpha val="43137"/>
                    </a:srgbClr>
                  </a:outerShdw>
                </a:effectLst>
              </a:rPr>
              <a:t>Features</a:t>
            </a:r>
            <a:r>
              <a:rPr lang="en-US" sz="5600" i="1" u="sng" dirty="0">
                <a:effectLst>
                  <a:outerShdw blurRad="38100" dist="38100" dir="2700000" algn="tl">
                    <a:srgbClr val="000000">
                      <a:alpha val="43137"/>
                    </a:srgbClr>
                  </a:outerShdw>
                </a:effectLst>
              </a:rPr>
              <a:t>:</a:t>
            </a:r>
          </a:p>
          <a:p>
            <a:pPr lvl="1"/>
            <a:r>
              <a:rPr lang="en-US" sz="5600" i="1" u="sng" dirty="0">
                <a:effectLst>
                  <a:outerShdw blurRad="38100" dist="38100" dir="2700000" algn="tl">
                    <a:srgbClr val="000000">
                      <a:alpha val="43137"/>
                    </a:srgbClr>
                  </a:outerShdw>
                </a:effectLst>
              </a:rPr>
              <a:t>Categories (Starters, Main Course, Desserts, Drinks)</a:t>
            </a:r>
          </a:p>
          <a:p>
            <a:pPr lvl="1"/>
            <a:r>
              <a:rPr lang="en-US" sz="5600" i="1" u="sng" dirty="0">
                <a:effectLst>
                  <a:outerShdw blurRad="38100" dist="38100" dir="2700000" algn="tl">
                    <a:srgbClr val="000000">
                      <a:alpha val="43137"/>
                    </a:srgbClr>
                  </a:outerShdw>
                </a:effectLst>
              </a:rPr>
              <a:t>Dish names, prices, and images</a:t>
            </a:r>
          </a:p>
          <a:p>
            <a:pPr lvl="1"/>
            <a:r>
              <a:rPr lang="en-US" sz="5600" i="1" u="sng" dirty="0">
                <a:effectLst>
                  <a:outerShdw blurRad="38100" dist="38100" dir="2700000" algn="tl">
                    <a:srgbClr val="000000">
                      <a:alpha val="43137"/>
                    </a:srgbClr>
                  </a:outerShdw>
                </a:effectLst>
              </a:rPr>
              <a:t>Ratings or likes (optional)</a:t>
            </a:r>
          </a:p>
          <a:p>
            <a:br>
              <a:rPr lang="en-US" sz="5600" i="1" u="sng" dirty="0">
                <a:effectLst>
                  <a:outerShdw blurRad="38100" dist="38100" dir="2700000" algn="tl">
                    <a:srgbClr val="000000">
                      <a:alpha val="43137"/>
                    </a:srgbClr>
                  </a:outerShdw>
                </a:effectLst>
              </a:rPr>
            </a:br>
            <a:endParaRPr lang="en-US" sz="5600" i="1" u="sng" dirty="0">
              <a:effectLst>
                <a:outerShdw blurRad="38100" dist="38100" dir="2700000" algn="tl">
                  <a:srgbClr val="000000">
                    <a:alpha val="43137"/>
                  </a:srgbClr>
                </a:outerShdw>
              </a:effectLst>
            </a:endParaRPr>
          </a:p>
          <a:p>
            <a:r>
              <a:rPr lang="en-US" sz="5600" b="1" i="1" u="sng" dirty="0">
                <a:effectLst>
                  <a:outerShdw blurRad="38100" dist="38100" dir="2700000" algn="tl">
                    <a:srgbClr val="000000">
                      <a:alpha val="43137"/>
                    </a:srgbClr>
                  </a:outerShdw>
                </a:effectLst>
              </a:rPr>
              <a:t>🔹 3. Feedback Form Page</a:t>
            </a:r>
          </a:p>
          <a:p>
            <a:r>
              <a:rPr lang="en-US" sz="5600" b="1" i="1" u="sng" dirty="0">
                <a:effectLst>
                  <a:outerShdw blurRad="38100" dist="38100" dir="2700000" algn="tl">
                    <a:srgbClr val="000000">
                      <a:alpha val="43137"/>
                    </a:srgbClr>
                  </a:outerShdw>
                </a:effectLst>
              </a:rPr>
              <a:t>Purpose</a:t>
            </a:r>
            <a:r>
              <a:rPr lang="en-US" sz="5600" i="1" u="sng" dirty="0">
                <a:effectLst>
                  <a:outerShdw blurRad="38100" dist="38100" dir="2700000" algn="tl">
                    <a:srgbClr val="000000">
                      <a:alpha val="43137"/>
                    </a:srgbClr>
                  </a:outerShdw>
                </a:effectLst>
              </a:rPr>
              <a:t>: Collect feedback from customers.</a:t>
            </a:r>
          </a:p>
          <a:p>
            <a:r>
              <a:rPr lang="en-US" sz="5600" b="1" i="1" u="sng" dirty="0">
                <a:effectLst>
                  <a:outerShdw blurRad="38100" dist="38100" dir="2700000" algn="tl">
                    <a:srgbClr val="000000">
                      <a:alpha val="43137"/>
                    </a:srgbClr>
                  </a:outerShdw>
                </a:effectLst>
              </a:rPr>
              <a:t>Features</a:t>
            </a:r>
            <a:r>
              <a:rPr lang="en-US" sz="5600" i="1" u="sng" dirty="0">
                <a:effectLst>
                  <a:outerShdw blurRad="38100" dist="38100" dir="2700000" algn="tl">
                    <a:srgbClr val="000000">
                      <a:alpha val="43137"/>
                    </a:srgbClr>
                  </a:outerShdw>
                </a:effectLst>
              </a:rPr>
              <a:t>:</a:t>
            </a:r>
          </a:p>
          <a:p>
            <a:pPr lvl="1"/>
            <a:r>
              <a:rPr lang="en-US" sz="5600" i="1" u="sng" dirty="0">
                <a:effectLst>
                  <a:outerShdw blurRad="38100" dist="38100" dir="2700000" algn="tl">
                    <a:srgbClr val="000000">
                      <a:alpha val="43137"/>
                    </a:srgbClr>
                  </a:outerShdw>
                </a:effectLst>
              </a:rPr>
              <a:t>Customer Name (optional or required)</a:t>
            </a:r>
          </a:p>
          <a:p>
            <a:pPr lvl="1"/>
            <a:r>
              <a:rPr lang="en-US" sz="5600" i="1" u="sng" dirty="0">
                <a:effectLst>
                  <a:outerShdw blurRad="38100" dist="38100" dir="2700000" algn="tl">
                    <a:srgbClr val="000000">
                      <a:alpha val="43137"/>
                    </a:srgbClr>
                  </a:outerShdw>
                </a:effectLst>
              </a:rPr>
              <a:t>Visit date/time</a:t>
            </a:r>
          </a:p>
          <a:p>
            <a:pPr lvl="1"/>
            <a:r>
              <a:rPr lang="en-US" sz="5600" i="1" u="sng" dirty="0">
                <a:effectLst>
                  <a:outerShdw blurRad="38100" dist="38100" dir="2700000" algn="tl">
                    <a:srgbClr val="000000">
                      <a:alpha val="43137"/>
                    </a:srgbClr>
                  </a:outerShdw>
                </a:effectLst>
              </a:rPr>
              <a:t>Rating system (1–5 stars or smiley faces)</a:t>
            </a:r>
          </a:p>
          <a:p>
            <a:pPr lvl="1"/>
            <a:r>
              <a:rPr lang="en-US" sz="5600" i="1" u="sng" dirty="0">
                <a:effectLst>
                  <a:outerShdw blurRad="38100" dist="38100" dir="2700000" algn="tl">
                    <a:srgbClr val="000000">
                      <a:alpha val="43137"/>
                    </a:srgbClr>
                  </a:outerShdw>
                </a:effectLst>
              </a:rPr>
              <a:t>Dropdowns (food quality, service, ambiance, cleanliness)</a:t>
            </a:r>
          </a:p>
          <a:p>
            <a:pPr lvl="1"/>
            <a:r>
              <a:rPr lang="en-US" sz="5600" i="1" u="sng" dirty="0">
                <a:effectLst>
                  <a:outerShdw blurRad="38100" dist="38100" dir="2700000" algn="tl">
                    <a:srgbClr val="000000">
                      <a:alpha val="43137"/>
                    </a:srgbClr>
                  </a:outerShdw>
                </a:effectLst>
              </a:rPr>
              <a:t>Textbox for additional comments</a:t>
            </a:r>
          </a:p>
          <a:p>
            <a:br>
              <a:rPr lang="en-US" sz="5600" i="1" u="sng" dirty="0">
                <a:effectLst>
                  <a:outerShdw blurRad="38100" dist="38100" dir="2700000" algn="tl">
                    <a:srgbClr val="000000">
                      <a:alpha val="43137"/>
                    </a:srgbClr>
                  </a:outerShdw>
                </a:effectLst>
              </a:rPr>
            </a:br>
            <a:endParaRPr lang="en-US" sz="5600" i="1" u="sng" dirty="0">
              <a:effectLst>
                <a:outerShdw blurRad="38100" dist="38100" dir="2700000" algn="tl">
                  <a:srgbClr val="000000">
                    <a:alpha val="43137"/>
                  </a:srgbClr>
                </a:outerShdw>
              </a:effectLst>
            </a:endParaRPr>
          </a:p>
          <a:p>
            <a:endParaRPr lang="en-US"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77603-EE93-C30E-176E-F25E1ED6E167}"/>
              </a:ext>
            </a:extLst>
          </p:cNvPr>
          <p:cNvSpPr>
            <a:spLocks noGrp="1"/>
          </p:cNvSpPr>
          <p:nvPr>
            <p:ph idx="1"/>
          </p:nvPr>
        </p:nvSpPr>
        <p:spPr>
          <a:xfrm>
            <a:off x="457200" y="152401"/>
            <a:ext cx="8229600" cy="6705600"/>
          </a:xfrm>
        </p:spPr>
        <p:txBody>
          <a:bodyPr>
            <a:normAutofit fontScale="25000" lnSpcReduction="20000"/>
          </a:bodyPr>
          <a:lstStyle/>
          <a:p>
            <a:r>
              <a:rPr lang="en-US" sz="5600" b="1" i="1" u="sng" dirty="0">
                <a:effectLst>
                  <a:outerShdw blurRad="38100" dist="38100" dir="2700000" algn="tl">
                    <a:srgbClr val="000000">
                      <a:alpha val="43137"/>
                    </a:srgbClr>
                  </a:outerShdw>
                </a:effectLst>
              </a:rPr>
              <a:t>🔹 4. Feedback Confirmation Page</a:t>
            </a:r>
          </a:p>
          <a:p>
            <a:r>
              <a:rPr lang="en-US" sz="5600" b="1" i="1" u="sng" dirty="0">
                <a:effectLst>
                  <a:outerShdw blurRad="38100" dist="38100" dir="2700000" algn="tl">
                    <a:srgbClr val="000000">
                      <a:alpha val="43137"/>
                    </a:srgbClr>
                  </a:outerShdw>
                </a:effectLst>
              </a:rPr>
              <a:t>Purpose</a:t>
            </a:r>
            <a:r>
              <a:rPr lang="en-US" sz="5600" i="1" u="sng" dirty="0">
                <a:effectLst>
                  <a:outerShdw blurRad="38100" dist="38100" dir="2700000" algn="tl">
                    <a:srgbClr val="000000">
                      <a:alpha val="43137"/>
                    </a:srgbClr>
                  </a:outerShdw>
                </a:effectLst>
              </a:rPr>
              <a:t>: Thank customers after feedback submission.</a:t>
            </a:r>
          </a:p>
          <a:p>
            <a:r>
              <a:rPr lang="en-US" sz="5600" b="1" i="1" u="sng" dirty="0">
                <a:effectLst>
                  <a:outerShdw blurRad="38100" dist="38100" dir="2700000" algn="tl">
                    <a:srgbClr val="000000">
                      <a:alpha val="43137"/>
                    </a:srgbClr>
                  </a:outerShdw>
                </a:effectLst>
              </a:rPr>
              <a:t>Features</a:t>
            </a:r>
            <a:r>
              <a:rPr lang="en-US" sz="5600" i="1" u="sng" dirty="0">
                <a:effectLst>
                  <a:outerShdw blurRad="38100" dist="38100" dir="2700000" algn="tl">
                    <a:srgbClr val="000000">
                      <a:alpha val="43137"/>
                    </a:srgbClr>
                  </a:outerShdw>
                </a:effectLst>
              </a:rPr>
              <a:t>:</a:t>
            </a:r>
          </a:p>
          <a:p>
            <a:pPr lvl="1"/>
            <a:r>
              <a:rPr lang="en-US" sz="5600" i="1" u="sng" dirty="0">
                <a:effectLst>
                  <a:outerShdw blurRad="38100" dist="38100" dir="2700000" algn="tl">
                    <a:srgbClr val="000000">
                      <a:alpha val="43137"/>
                    </a:srgbClr>
                  </a:outerShdw>
                </a:effectLst>
              </a:rPr>
              <a:t>Thank you message</a:t>
            </a:r>
          </a:p>
          <a:p>
            <a:pPr lvl="1"/>
            <a:r>
              <a:rPr lang="en-US" sz="5600" i="1" u="sng" dirty="0">
                <a:effectLst>
                  <a:outerShdw blurRad="38100" dist="38100" dir="2700000" algn="tl">
                    <a:srgbClr val="000000">
                      <a:alpha val="43137"/>
                    </a:srgbClr>
                  </a:outerShdw>
                </a:effectLst>
              </a:rPr>
              <a:t>Summary of submitted feedback (optional)</a:t>
            </a:r>
          </a:p>
          <a:p>
            <a:pPr lvl="1"/>
            <a:r>
              <a:rPr lang="en-US" sz="5600" i="1" u="sng" dirty="0">
                <a:effectLst>
                  <a:outerShdw blurRad="38100" dist="38100" dir="2700000" algn="tl">
                    <a:srgbClr val="000000">
                      <a:alpha val="43137"/>
                    </a:srgbClr>
                  </a:outerShdw>
                </a:effectLst>
              </a:rPr>
              <a:t>Link to return to Home or Menu</a:t>
            </a:r>
          </a:p>
          <a:p>
            <a:br>
              <a:rPr lang="en-US" sz="5600" i="1" u="sng" dirty="0">
                <a:effectLst>
                  <a:outerShdw blurRad="38100" dist="38100" dir="2700000" algn="tl">
                    <a:srgbClr val="000000">
                      <a:alpha val="43137"/>
                    </a:srgbClr>
                  </a:outerShdw>
                </a:effectLst>
              </a:rPr>
            </a:br>
            <a:endParaRPr lang="en-US" sz="5600" i="1" u="sng" dirty="0">
              <a:effectLst>
                <a:outerShdw blurRad="38100" dist="38100" dir="2700000" algn="tl">
                  <a:srgbClr val="000000">
                    <a:alpha val="43137"/>
                  </a:srgbClr>
                </a:outerShdw>
              </a:effectLst>
            </a:endParaRPr>
          </a:p>
          <a:p>
            <a:r>
              <a:rPr lang="en-US" sz="5600" b="1" i="1" u="sng" dirty="0">
                <a:effectLst>
                  <a:outerShdw blurRad="38100" dist="38100" dir="2700000" algn="tl">
                    <a:srgbClr val="000000">
                      <a:alpha val="43137"/>
                    </a:srgbClr>
                  </a:outerShdw>
                </a:effectLst>
              </a:rPr>
              <a:t>🔹 5. Admin Login Page</a:t>
            </a:r>
          </a:p>
          <a:p>
            <a:r>
              <a:rPr lang="en-US" sz="5600" b="1" i="1" u="sng" dirty="0">
                <a:effectLst>
                  <a:outerShdw blurRad="38100" dist="38100" dir="2700000" algn="tl">
                    <a:srgbClr val="000000">
                      <a:alpha val="43137"/>
                    </a:srgbClr>
                  </a:outerShdw>
                </a:effectLst>
              </a:rPr>
              <a:t>Purpose</a:t>
            </a:r>
            <a:r>
              <a:rPr lang="en-US" sz="5600" i="1" u="sng" dirty="0">
                <a:effectLst>
                  <a:outerShdw blurRad="38100" dist="38100" dir="2700000" algn="tl">
                    <a:srgbClr val="000000">
                      <a:alpha val="43137"/>
                    </a:srgbClr>
                  </a:outerShdw>
                </a:effectLst>
              </a:rPr>
              <a:t>: Secure access for restaurant admin/staff.</a:t>
            </a:r>
          </a:p>
          <a:p>
            <a:r>
              <a:rPr lang="en-US" sz="5600" b="1" i="1" u="sng" dirty="0">
                <a:effectLst>
                  <a:outerShdw blurRad="38100" dist="38100" dir="2700000" algn="tl">
                    <a:srgbClr val="000000">
                      <a:alpha val="43137"/>
                    </a:srgbClr>
                  </a:outerShdw>
                </a:effectLst>
              </a:rPr>
              <a:t>Features</a:t>
            </a:r>
            <a:r>
              <a:rPr lang="en-US" sz="5600" i="1" u="sng" dirty="0">
                <a:effectLst>
                  <a:outerShdw blurRad="38100" dist="38100" dir="2700000" algn="tl">
                    <a:srgbClr val="000000">
                      <a:alpha val="43137"/>
                    </a:srgbClr>
                  </a:outerShdw>
                </a:effectLst>
              </a:rPr>
              <a:t>:</a:t>
            </a:r>
          </a:p>
          <a:p>
            <a:pPr lvl="1"/>
            <a:r>
              <a:rPr lang="en-US" sz="5600" i="1" u="sng" dirty="0">
                <a:effectLst>
                  <a:outerShdw blurRad="38100" dist="38100" dir="2700000" algn="tl">
                    <a:srgbClr val="000000">
                      <a:alpha val="43137"/>
                    </a:srgbClr>
                  </a:outerShdw>
                </a:effectLst>
              </a:rPr>
              <a:t>Username/password fields</a:t>
            </a:r>
          </a:p>
          <a:p>
            <a:pPr lvl="1"/>
            <a:r>
              <a:rPr lang="en-US" sz="5600" i="1" u="sng" dirty="0">
                <a:effectLst>
                  <a:outerShdw blurRad="38100" dist="38100" dir="2700000" algn="tl">
                    <a:srgbClr val="000000">
                      <a:alpha val="43137"/>
                    </a:srgbClr>
                  </a:outerShdw>
                </a:effectLst>
              </a:rPr>
              <a:t>Login button</a:t>
            </a:r>
          </a:p>
          <a:p>
            <a:pPr lvl="1"/>
            <a:r>
              <a:rPr lang="en-US" sz="5600" i="1" u="sng" dirty="0">
                <a:effectLst>
                  <a:outerShdw blurRad="38100" dist="38100" dir="2700000" algn="tl">
                    <a:srgbClr val="000000">
                      <a:alpha val="43137"/>
                    </a:srgbClr>
                  </a:outerShdw>
                </a:effectLst>
              </a:rPr>
              <a:t>Forgot password? (optional)</a:t>
            </a:r>
          </a:p>
          <a:p>
            <a:pPr lvl="1"/>
            <a:r>
              <a:rPr lang="en-US" sz="5600" i="1" u="sng" dirty="0">
                <a:effectLst>
                  <a:outerShdw blurRad="38100" dist="38100" dir="2700000" algn="tl">
                    <a:srgbClr val="000000">
                      <a:alpha val="43137"/>
                    </a:srgbClr>
                  </a:outerShdw>
                </a:effectLst>
              </a:rPr>
              <a:t>Basic validation</a:t>
            </a:r>
          </a:p>
          <a:p>
            <a:pPr lvl="1"/>
            <a:endParaRPr lang="en-US" sz="5600" i="1" u="sng" dirty="0">
              <a:effectLst>
                <a:outerShdw blurRad="38100" dist="38100" dir="2700000" algn="tl">
                  <a:srgbClr val="000000">
                    <a:alpha val="43137"/>
                  </a:srgbClr>
                </a:outerShdw>
              </a:effectLst>
            </a:endParaRPr>
          </a:p>
          <a:p>
            <a:pPr marL="457200" lvl="1" indent="0">
              <a:buNone/>
            </a:pPr>
            <a:endParaRPr lang="en-US" sz="5600" i="1" u="sng" dirty="0">
              <a:effectLst>
                <a:outerShdw blurRad="38100" dist="38100" dir="2700000" algn="tl">
                  <a:srgbClr val="000000">
                    <a:alpha val="43137"/>
                  </a:srgbClr>
                </a:outerShdw>
              </a:effectLst>
            </a:endParaRPr>
          </a:p>
          <a:p>
            <a:r>
              <a:rPr lang="en-US" sz="5600" b="1" i="1" u="sng" dirty="0"/>
              <a:t>🔹 6. Admin Dashboard Page</a:t>
            </a:r>
          </a:p>
          <a:p>
            <a:r>
              <a:rPr lang="en-US" sz="5600" b="1" i="1" u="sng" dirty="0"/>
              <a:t>Purpose</a:t>
            </a:r>
            <a:r>
              <a:rPr lang="en-US" sz="5600" i="1" u="sng" dirty="0"/>
              <a:t>: View and manage customer feedback.</a:t>
            </a:r>
          </a:p>
          <a:p>
            <a:r>
              <a:rPr lang="en-US" sz="5600" b="1" i="1" u="sng" dirty="0"/>
              <a:t>Features</a:t>
            </a:r>
            <a:r>
              <a:rPr lang="en-US" sz="5600" i="1" u="sng" dirty="0"/>
              <a:t>:</a:t>
            </a:r>
          </a:p>
          <a:p>
            <a:pPr lvl="1"/>
            <a:r>
              <a:rPr lang="en-US" sz="5600" i="1" u="sng" dirty="0"/>
              <a:t>Table of feedback entries (name, date, ratings, comments)</a:t>
            </a:r>
          </a:p>
          <a:p>
            <a:pPr lvl="1"/>
            <a:r>
              <a:rPr lang="en-US" sz="5600" i="1" u="sng" dirty="0"/>
              <a:t>Filters (by date, rating, category)</a:t>
            </a:r>
          </a:p>
          <a:p>
            <a:pPr lvl="1"/>
            <a:r>
              <a:rPr lang="en-US" sz="5600" i="1" u="sng" dirty="0"/>
              <a:t>Export to CSV/PDF</a:t>
            </a:r>
          </a:p>
          <a:p>
            <a:pPr lvl="1"/>
            <a:r>
              <a:rPr lang="en-US" sz="5600" i="1" u="sng" dirty="0"/>
              <a:t>Charts (bar, pie charts showing rating distribution)</a:t>
            </a:r>
          </a:p>
          <a:p>
            <a:pPr lvl="1"/>
            <a:endParaRPr lang="en-US" sz="5600" i="1" u="sng" dirty="0">
              <a:effectLst>
                <a:outerShdw blurRad="38100" dist="38100" dir="2700000" algn="tl">
                  <a:srgbClr val="000000">
                    <a:alpha val="43137"/>
                  </a:srgbClr>
                </a:outerShdw>
              </a:effectLst>
            </a:endParaRPr>
          </a:p>
          <a:p>
            <a:pPr lvl="1"/>
            <a:endParaRPr lang="en-US" sz="5600" i="1" u="sng" dirty="0">
              <a:effectLst>
                <a:outerShdw blurRad="38100" dist="38100" dir="2700000" algn="tl">
                  <a:srgbClr val="000000">
                    <a:alpha val="43137"/>
                  </a:srgbClr>
                </a:outerShdw>
              </a:effectLst>
            </a:endParaRPr>
          </a:p>
          <a:p>
            <a:br>
              <a:rPr lang="en-US" dirty="0"/>
            </a:br>
            <a:endParaRPr lang="en-US" dirty="0"/>
          </a:p>
          <a:p>
            <a:endParaRPr lang="en-IN" dirty="0"/>
          </a:p>
        </p:txBody>
      </p:sp>
    </p:spTree>
    <p:extLst>
      <p:ext uri="{BB962C8B-B14F-4D97-AF65-F5344CB8AC3E}">
        <p14:creationId xmlns:p14="http://schemas.microsoft.com/office/powerpoint/2010/main" val="2541140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762000"/>
            <a:ext cx="8229600" cy="5364165"/>
          </a:xfrm>
        </p:spPr>
        <p:txBody>
          <a:bodyPr>
            <a:normAutofit fontScale="25000" lnSpcReduction="20000"/>
          </a:bodyPr>
          <a:lstStyle/>
          <a:p>
            <a:pPr marL="0" indent="0">
              <a:buNone/>
            </a:pPr>
            <a:endParaRPr lang="en-US" sz="5600" i="1" u="sng" dirty="0"/>
          </a:p>
          <a:p>
            <a:r>
              <a:rPr lang="en-US" sz="5600" b="1" i="1" u="sng" dirty="0"/>
              <a:t>🔹 7. Reports &amp; Analytics Page</a:t>
            </a:r>
          </a:p>
          <a:p>
            <a:r>
              <a:rPr lang="en-US" sz="5600" b="1" i="1" u="sng" dirty="0"/>
              <a:t>Purpose</a:t>
            </a:r>
            <a:r>
              <a:rPr lang="en-US" sz="5600" i="1" u="sng" dirty="0"/>
              <a:t>: Visual feedback summary.</a:t>
            </a:r>
          </a:p>
          <a:p>
            <a:r>
              <a:rPr lang="en-US" sz="5600" b="1" i="1" u="sng" dirty="0"/>
              <a:t>Features</a:t>
            </a:r>
            <a:r>
              <a:rPr lang="en-US" sz="5600" i="1" u="sng" dirty="0"/>
              <a:t>:</a:t>
            </a:r>
          </a:p>
          <a:p>
            <a:pPr lvl="1"/>
            <a:r>
              <a:rPr lang="en-US" sz="5600" i="1" u="sng" dirty="0"/>
              <a:t>Overall satisfaction score</a:t>
            </a:r>
          </a:p>
          <a:p>
            <a:pPr lvl="1"/>
            <a:r>
              <a:rPr lang="en-US" sz="5600" i="1" u="sng" dirty="0"/>
              <a:t>Average ratings per category</a:t>
            </a:r>
          </a:p>
          <a:p>
            <a:pPr lvl="1"/>
            <a:r>
              <a:rPr lang="en-US" sz="5600" i="1" u="sng" dirty="0"/>
              <a:t>Trends over time</a:t>
            </a:r>
          </a:p>
          <a:p>
            <a:pPr lvl="1"/>
            <a:r>
              <a:rPr lang="en-US" sz="5600" i="1" u="sng" dirty="0"/>
              <a:t>Downloadable reports</a:t>
            </a:r>
          </a:p>
          <a:p>
            <a:br>
              <a:rPr lang="en-US" sz="5600" i="1" u="sng" dirty="0"/>
            </a:br>
            <a:endParaRPr lang="en-US" sz="5600" i="1" u="sng" dirty="0"/>
          </a:p>
          <a:p>
            <a:r>
              <a:rPr lang="en-US" sz="5600" b="1" i="1" u="sng" dirty="0"/>
              <a:t>🔹 8. Manage Users Page (Optional)</a:t>
            </a:r>
          </a:p>
          <a:p>
            <a:r>
              <a:rPr lang="en-US" sz="5600" b="1" i="1" u="sng" dirty="0"/>
              <a:t>Purpose</a:t>
            </a:r>
            <a:r>
              <a:rPr lang="en-US" sz="5600" i="1" u="sng" dirty="0"/>
              <a:t>: Admins manage other users (staff).</a:t>
            </a:r>
          </a:p>
          <a:p>
            <a:r>
              <a:rPr lang="en-US" sz="5600" b="1" i="1" u="sng" dirty="0"/>
              <a:t>Features</a:t>
            </a:r>
            <a:r>
              <a:rPr lang="en-US" sz="5600" i="1" u="sng" dirty="0"/>
              <a:t>:</a:t>
            </a:r>
          </a:p>
          <a:p>
            <a:pPr lvl="1"/>
            <a:r>
              <a:rPr lang="en-US" sz="5600" i="1" u="sng" dirty="0"/>
              <a:t>Add/edit/delete user accounts</a:t>
            </a:r>
          </a:p>
          <a:p>
            <a:pPr lvl="1"/>
            <a:r>
              <a:rPr lang="en-US" sz="5600" i="1" u="sng" dirty="0"/>
              <a:t>Assign roles (admin, viewer)</a:t>
            </a:r>
          </a:p>
          <a:p>
            <a:br>
              <a:rPr lang="en-US" sz="5600" i="1" u="sng" dirty="0"/>
            </a:br>
            <a:endParaRPr lang="en-US" sz="5600" i="1" u="sng" dirty="0"/>
          </a:p>
          <a:p>
            <a:r>
              <a:rPr lang="en-US" sz="5600" b="1" i="1" u="sng" dirty="0"/>
              <a:t>🔹 9. Contact Page</a:t>
            </a:r>
          </a:p>
          <a:p>
            <a:r>
              <a:rPr lang="en-US" sz="5600" b="1" i="1" u="sng" dirty="0"/>
              <a:t>Purpose</a:t>
            </a:r>
            <a:r>
              <a:rPr lang="en-US" sz="5600" i="1" u="sng" dirty="0"/>
              <a:t>: Let customers contact the restaurant.</a:t>
            </a:r>
          </a:p>
          <a:p>
            <a:r>
              <a:rPr lang="en-US" sz="5600" b="1" i="1" u="sng" dirty="0"/>
              <a:t>Features</a:t>
            </a:r>
            <a:r>
              <a:rPr lang="en-US" sz="5600" i="1" u="sng" dirty="0"/>
              <a:t>:</a:t>
            </a:r>
          </a:p>
          <a:p>
            <a:pPr lvl="1"/>
            <a:r>
              <a:rPr lang="en-US" sz="5600" i="1" u="sng" dirty="0"/>
              <a:t>Address, phone, email</a:t>
            </a:r>
          </a:p>
          <a:p>
            <a:pPr lvl="1"/>
            <a:r>
              <a:rPr lang="en-US" sz="5600" i="1" u="sng" dirty="0"/>
              <a:t>Google map integration</a:t>
            </a:r>
          </a:p>
          <a:p>
            <a:pPr lvl="1"/>
            <a:r>
              <a:rPr lang="en-US" sz="5600" i="1" u="sng" dirty="0"/>
              <a:t>Contact form</a:t>
            </a:r>
          </a:p>
          <a:p>
            <a:br>
              <a:rPr lang="en-US" sz="5600" i="1" u="sng" dirty="0"/>
            </a:br>
            <a:endParaRPr lang="en-US" sz="5600" i="1" u="sng" dirty="0"/>
          </a:p>
          <a:p>
            <a:endParaRPr lang="en-IN" dirty="0"/>
          </a:p>
          <a:p>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273675"/>
          </a:xfrm>
        </p:spPr>
        <p:txBody>
          <a:bodyPr>
            <a:normAutofit/>
          </a:bodyPr>
          <a:lstStyle/>
          <a:p>
            <a:r>
              <a:rPr lang="en-US" sz="2000" b="1" i="1" u="sng" dirty="0"/>
              <a:t>CONCLUSION</a:t>
            </a:r>
          </a:p>
          <a:p>
            <a:pPr algn="just"/>
            <a:r>
              <a:rPr lang="en-US" sz="2000" i="1" u="sng" dirty="0"/>
              <a:t>The development of a </a:t>
            </a:r>
            <a:r>
              <a:rPr lang="en-US" sz="2000" b="1" i="1" u="sng" dirty="0"/>
              <a:t>Customer Feedback System for Restaurants</a:t>
            </a:r>
            <a:r>
              <a:rPr lang="en-US" sz="2000" i="1" u="sng" dirty="0"/>
              <a:t> offers a structured and efficient way to collect, manage, and analyze customer opinions. This system enhances the restaurant’s ability to understand customer expectations, identify areas for improvement, and implement necessary changes to elevate service quality. With an intuitive user interface and real-time analytics, the platform empowers management to make data-driven decisions that directly contribute to customer satisfaction and loyalty. Overall, the system bridges the communication gap between diners and restaurant staff, creating a culture of continuous improvement and excellence.</a:t>
            </a:r>
          </a:p>
          <a:p>
            <a:endParaRPr lang="en-US" sz="2000"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56D94-ABB4-4D62-6188-B2FFBF3AD29E}"/>
              </a:ext>
            </a:extLst>
          </p:cNvPr>
          <p:cNvSpPr>
            <a:spLocks noGrp="1"/>
          </p:cNvSpPr>
          <p:nvPr>
            <p:ph idx="1"/>
          </p:nvPr>
        </p:nvSpPr>
        <p:spPr>
          <a:xfrm>
            <a:off x="491067" y="76200"/>
            <a:ext cx="8229600" cy="5973763"/>
          </a:xfrm>
        </p:spPr>
        <p:txBody>
          <a:bodyPr>
            <a:normAutofit fontScale="32500" lnSpcReduction="20000"/>
          </a:bodyPr>
          <a:lstStyle/>
          <a:p>
            <a:r>
              <a:rPr lang="en-US" sz="5500" b="1" i="1" dirty="0">
                <a:solidFill>
                  <a:srgbClr val="FF0000"/>
                </a:solidFill>
              </a:rPr>
              <a:t>FUTURE SCOPE </a:t>
            </a:r>
          </a:p>
          <a:p>
            <a:endParaRPr lang="en-US" sz="3500" b="1" i="1" dirty="0">
              <a:solidFill>
                <a:srgbClr val="FF0000"/>
              </a:solidFill>
            </a:endParaRPr>
          </a:p>
          <a:p>
            <a:r>
              <a:rPr lang="en-US" sz="5500" b="1" i="1" dirty="0"/>
              <a:t>Mobile App Integration</a:t>
            </a:r>
            <a:endParaRPr lang="en-US" sz="5500" i="1" dirty="0"/>
          </a:p>
          <a:p>
            <a:pPr lvl="1"/>
            <a:r>
              <a:rPr lang="en-US" sz="5500" i="1" dirty="0"/>
              <a:t>Develop dedicated Android and iOS apps for more convenient access to the feedback system.</a:t>
            </a:r>
          </a:p>
          <a:p>
            <a:r>
              <a:rPr lang="en-US" sz="5500" b="1" i="1" dirty="0"/>
              <a:t>AI-Powered Sentiment Analysis</a:t>
            </a:r>
            <a:endParaRPr lang="en-US" sz="5500" i="1" dirty="0"/>
          </a:p>
          <a:p>
            <a:pPr lvl="1"/>
            <a:r>
              <a:rPr lang="en-US" sz="5500" i="1" dirty="0"/>
              <a:t>Implement Natural Language Processing (NLP) to automatically detect customer sentiment from written feedback.</a:t>
            </a:r>
          </a:p>
          <a:p>
            <a:r>
              <a:rPr lang="en-US" sz="5500" b="1" i="1" dirty="0"/>
              <a:t>Real-Time Alerts &amp; Notifications</a:t>
            </a:r>
            <a:endParaRPr lang="en-US" sz="5500" i="1" dirty="0"/>
          </a:p>
          <a:p>
            <a:pPr lvl="1"/>
            <a:r>
              <a:rPr lang="en-US" sz="5500" i="1" dirty="0"/>
              <a:t>Notify staff instantly about negative feedback for quicker resolution.</a:t>
            </a:r>
          </a:p>
          <a:p>
            <a:r>
              <a:rPr lang="en-US" sz="5500" b="1" i="1" dirty="0"/>
              <a:t>Multilingual Support</a:t>
            </a:r>
            <a:endParaRPr lang="en-US" sz="5500" i="1" dirty="0"/>
          </a:p>
          <a:p>
            <a:pPr lvl="1"/>
            <a:r>
              <a:rPr lang="en-US" sz="5500" i="1" dirty="0"/>
              <a:t>Add support for regional and international languages to cater to a broader customer base.</a:t>
            </a:r>
          </a:p>
          <a:p>
            <a:r>
              <a:rPr lang="en-US" sz="5500" b="1" i="1" dirty="0"/>
              <a:t>Gamification &amp; Rewards</a:t>
            </a:r>
            <a:endParaRPr lang="en-US" sz="5500" i="1" dirty="0"/>
          </a:p>
          <a:p>
            <a:pPr lvl="1"/>
            <a:r>
              <a:rPr lang="en-US" sz="5500" i="1" dirty="0"/>
              <a:t>Encourage customers to leave feedback by integrating reward points or discount coupons.</a:t>
            </a:r>
          </a:p>
          <a:p>
            <a:r>
              <a:rPr lang="en-US" sz="5500" b="1" i="1" dirty="0"/>
              <a:t>Voice Feedback Support</a:t>
            </a:r>
            <a:endParaRPr lang="en-US" sz="5500" i="1" dirty="0"/>
          </a:p>
          <a:p>
            <a:pPr lvl="1"/>
            <a:r>
              <a:rPr lang="en-US" sz="5500" i="1" dirty="0"/>
              <a:t>Allow customers to submit feedback using voice input, improving accessibility.</a:t>
            </a:r>
          </a:p>
          <a:p>
            <a:r>
              <a:rPr lang="en-US" sz="5500" b="1" i="1" dirty="0"/>
              <a:t>Integration with POS and CRM Systems</a:t>
            </a:r>
            <a:endParaRPr lang="en-US" sz="5500" i="1" dirty="0"/>
          </a:p>
          <a:p>
            <a:pPr lvl="1"/>
            <a:r>
              <a:rPr lang="en-US" sz="5500" i="1" dirty="0"/>
              <a:t>Sync feedback data with Point-of-Sale and Customer Relationship Management tools for a seamless business workflow.</a:t>
            </a:r>
          </a:p>
          <a:p>
            <a:r>
              <a:rPr lang="en-US" sz="5500" b="1" i="1" dirty="0"/>
              <a:t>Advanced Analytics Dashboard</a:t>
            </a:r>
            <a:endParaRPr lang="en-US" sz="5500" i="1" dirty="0"/>
          </a:p>
          <a:p>
            <a:pPr lvl="1"/>
            <a:r>
              <a:rPr lang="en-US" sz="5500" i="1" dirty="0"/>
              <a:t>Provide deeper insights through predictive analytics and trend forecasting.</a:t>
            </a:r>
          </a:p>
          <a:p>
            <a:endParaRPr lang="en-IN" dirty="0"/>
          </a:p>
        </p:txBody>
      </p:sp>
    </p:spTree>
    <p:extLst>
      <p:ext uri="{BB962C8B-B14F-4D97-AF65-F5344CB8AC3E}">
        <p14:creationId xmlns:p14="http://schemas.microsoft.com/office/powerpoint/2010/main" val="3478354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graphicFrame>
        <p:nvGraphicFramePr>
          <p:cNvPr id="3" name="Content Placeholder 2">
            <a:extLst>
              <a:ext uri="{FF2B5EF4-FFF2-40B4-BE49-F238E27FC236}">
                <a16:creationId xmlns:a16="http://schemas.microsoft.com/office/drawing/2014/main" id="{56348054-1E38-F717-216F-CB2382CEE15A}"/>
              </a:ext>
            </a:extLst>
          </p:cNvPr>
          <p:cNvGraphicFramePr>
            <a:graphicFrameLocks noGrp="1"/>
          </p:cNvGraphicFramePr>
          <p:nvPr>
            <p:ph idx="1"/>
            <p:extLst>
              <p:ext uri="{D42A27DB-BD31-4B8C-83A1-F6EECF244321}">
                <p14:modId xmlns:p14="http://schemas.microsoft.com/office/powerpoint/2010/main" val="1061773336"/>
              </p:ext>
            </p:extLst>
          </p:nvPr>
        </p:nvGraphicFramePr>
        <p:xfrm>
          <a:off x="381000" y="1417638"/>
          <a:ext cx="8458200" cy="8321040"/>
        </p:xfrm>
        <a:graphic>
          <a:graphicData uri="http://schemas.openxmlformats.org/drawingml/2006/table">
            <a:tbl>
              <a:tblPr/>
              <a:tblGrid>
                <a:gridCol w="4027714">
                  <a:extLst>
                    <a:ext uri="{9D8B030D-6E8A-4147-A177-3AD203B41FA5}">
                      <a16:colId xmlns:a16="http://schemas.microsoft.com/office/drawing/2014/main" val="3552636708"/>
                    </a:ext>
                  </a:extLst>
                </a:gridCol>
                <a:gridCol w="4430486">
                  <a:extLst>
                    <a:ext uri="{9D8B030D-6E8A-4147-A177-3AD203B41FA5}">
                      <a16:colId xmlns:a16="http://schemas.microsoft.com/office/drawing/2014/main" val="2406303"/>
                    </a:ext>
                  </a:extLst>
                </a:gridCol>
              </a:tblGrid>
              <a:tr h="4754561">
                <a:tc>
                  <a:txBody>
                    <a:bodyPr/>
                    <a:lstStyle/>
                    <a:p>
                      <a:pPr>
                        <a:buNone/>
                      </a:pPr>
                      <a:r>
                        <a:rPr lang="en-IN" dirty="0"/>
                        <a:t>TITLE</a:t>
                      </a:r>
                    </a:p>
                    <a:p>
                      <a:pPr>
                        <a:buNone/>
                      </a:pPr>
                      <a:r>
                        <a:rPr lang="en-IN" dirty="0"/>
                        <a:t>A </a:t>
                      </a:r>
                      <a:r>
                        <a:rPr lang="en-US" dirty="0"/>
                        <a:t> Qualitative Analysis of the Customers’ Perceptions of the Restaurant Services in Bengaluru.</a:t>
                      </a:r>
                    </a:p>
                    <a:p>
                      <a:pPr>
                        <a:buNone/>
                      </a:pPr>
                      <a:endParaRPr lang="en-US" dirty="0"/>
                    </a:p>
                    <a:p>
                      <a:pPr>
                        <a:buNone/>
                      </a:pPr>
                      <a:r>
                        <a:rPr lang="en-US" dirty="0"/>
                        <a:t>AUTHOR</a:t>
                      </a:r>
                    </a:p>
                    <a:p>
                      <a:pPr>
                        <a:buNone/>
                      </a:pPr>
                      <a:r>
                        <a:rPr lang="fi-FI" dirty="0"/>
                        <a:t>K. Sreenivasa Murthy &amp; K. Sai Kumar (2023)</a:t>
                      </a:r>
                    </a:p>
                    <a:p>
                      <a:pPr>
                        <a:buNone/>
                      </a:pPr>
                      <a:endParaRPr lang="fi-FI" dirty="0"/>
                    </a:p>
                    <a:p>
                      <a:pPr>
                        <a:buNone/>
                      </a:pPr>
                      <a:endParaRPr lang="fi-FI" dirty="0"/>
                    </a:p>
                    <a:p>
                      <a:pPr>
                        <a:buNone/>
                      </a:pPr>
                      <a:r>
                        <a:rPr lang="fi-FI" dirty="0"/>
                        <a:t>WHAT IT COVERS</a:t>
                      </a:r>
                    </a:p>
                    <a:p>
                      <a:pPr>
                        <a:buNone/>
                      </a:pPr>
                      <a:r>
                        <a:rPr lang="en-US" dirty="0"/>
                        <a:t>Explores customers’ expectations vs perceptions in restaurants, using SERVQUAL dimensions (tangibility, reliability, responsiveness, assurance, empathy). Finds gaps in service, especially during peak hours and in offering safety and environment</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816401657"/>
                  </a:ext>
                </a:extLst>
              </a:tr>
            </a:tbl>
          </a:graphicData>
        </a:graphic>
      </p:graphicFrame>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2005</TotalTime>
  <Words>1493</Words>
  <Application>Microsoft Office PowerPoint</Application>
  <PresentationFormat>On-screen Show (4:3)</PresentationFormat>
  <Paragraphs>176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Times New Roman</vt:lpstr>
      <vt:lpstr>Office Theme</vt:lpstr>
      <vt:lpstr> A Project Review Meeting    on  Project Title </vt:lpstr>
      <vt:lpstr>Outline of the Presentation</vt:lpstr>
      <vt:lpstr>Abstract</vt:lpstr>
      <vt:lpstr>Introduction</vt:lpstr>
      <vt:lpstr>Problem Statement </vt:lpstr>
      <vt:lpstr>Project Flow Diagram</vt:lpstr>
      <vt:lpstr>Objectives with Justification </vt:lpstr>
      <vt:lpstr>Modules [Frontend web pages]</vt:lpstr>
      <vt:lpstr>PowerPoint Presentation</vt:lpstr>
      <vt:lpstr> </vt:lpstr>
      <vt:lpstr>Conclusion and Future Scope</vt:lpstr>
      <vt:lpstr>PowerPoint Presentation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pranitha6798@outlook.com</cp:lastModifiedBy>
  <cp:revision>200</cp:revision>
  <dcterms:created xsi:type="dcterms:W3CDTF">2006-08-16T00:00:00Z</dcterms:created>
  <dcterms:modified xsi:type="dcterms:W3CDTF">2025-09-12T04:36:12Z</dcterms:modified>
</cp:coreProperties>
</file>